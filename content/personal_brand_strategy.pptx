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43552"/>
          </a:solidFill>
          <a:ln w="12700">
            <a:solidFill>
              <a:srgbClr val="2435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822960"/>
            <a:ext cx="2651760" cy="2651760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43552"/>
          </a:solidFill>
          <a:ln w="12700">
            <a:solidFill>
              <a:srgbClr val="2435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2560320" cy="3886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2926080" cy="320040"/>
          </a:xfrm>
          <a:prstGeom prst="rect">
            <a:avLst/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A2640"/>
                </a:solidFill>
              </a:rPr>
              <a:t>PERSONAL BRANDING STRATEGY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地に足がついた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ハイパフォーマーへ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監査法人 × USCPA × 独立志向　24歳からのブランド設計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73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2026.03  |  Personal Branding OS v1.0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640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現在地：私は今、何者か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SLIDE 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6400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15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🏢  所属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417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40"/>
                </a:solidFill>
              </a:rPr>
              <a:t>監査法人トーマツ（Big4）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640"/>
                </a:solidFill>
              </a:rPr>
              <a:t>社会人2年目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743200"/>
            <a:ext cx="6400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8529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📜  資格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3154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40"/>
                </a:solidFill>
              </a:rPr>
              <a:t>USCPA 合格者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640"/>
                </a:solidFill>
              </a:rPr>
              <a:t>CIA 取得目標中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05840"/>
            <a:ext cx="6400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115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💼  経歴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8032" y="1417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40"/>
                </a:solidFill>
              </a:rPr>
              <a:t>フリーランス経験 半年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640"/>
                </a:solidFill>
              </a:rPr>
              <a:t>将来独立志向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743200"/>
            <a:ext cx="6400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8529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📊  財務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28032" y="3154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40"/>
                </a:solidFill>
              </a:rPr>
              <a:t>マンション購入済（5,500万）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640"/>
                </a:solidFill>
              </a:rPr>
              <a:t>投資信託 月13万積立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A2640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▶  強み（仮説）：若さ × 監査専門性 × USCPA × 規律ある生活設計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BRAND CONCEPT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26080" y="1005840"/>
            <a:ext cx="3291840" cy="3291840"/>
          </a:xfrm>
          <a:prstGeom prst="ellipse">
            <a:avLst/>
          </a:prstGeom>
          <a:solidFill>
            <a:srgbClr val="243552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0" y="100584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地に足がついた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ハイパフォーマー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" y="731520"/>
            <a:ext cx="182880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7315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640"/>
                </a:solidFill>
              </a:rPr>
              <a:t>誠実・信頼感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731520"/>
            <a:ext cx="182880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7315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640"/>
                </a:solidFill>
              </a:rPr>
              <a:t>専門性の深さ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2377440"/>
            <a:ext cx="182880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377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640"/>
                </a:solidFill>
              </a:rPr>
              <a:t>規律ある習慣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2377440"/>
            <a:ext cx="182880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377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640"/>
                </a:solidFill>
              </a:rPr>
              <a:t>財務の自立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4389120"/>
            <a:ext cx="182880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4389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640"/>
                </a:solidFill>
              </a:rPr>
              <a:t>持続可能な成果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4E0"/>
                </a:solidFill>
              </a:rPr>
              <a:t>「仕事・健康・財務を同時前進させる、24歳のプロフェッショナル」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640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5つの資本モデル — 同時前進の設計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SLIDE 04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57276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15727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1615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信用資本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1207008" cy="0"/>
          </a:xfrm>
          <a:prstGeom prst="line">
            <a:avLst/>
          </a:prstGeom>
          <a:noFill/>
          <a:ln w="12700">
            <a:solidFill>
              <a:srgbClr val="D0D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2199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監査実績 + ブランド価値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78892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A84C"/>
                </a:solidFill>
              </a:rPr>
              <a:t>現在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99008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40"/>
                </a:solidFill>
              </a:rPr>
              <a:t>構築中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353872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A84C"/>
                </a:solidFill>
              </a:rPr>
              <a:t>目標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37490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40"/>
                </a:solidFill>
              </a:rPr>
              <a:t>業界での信頼確立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39112" y="960120"/>
            <a:ext cx="157276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39112" y="960120"/>
            <a:ext cx="1572768" cy="2011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39112" y="121615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039112" y="1737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知的資本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21992" y="2148840"/>
            <a:ext cx="1207008" cy="0"/>
          </a:xfrm>
          <a:prstGeom prst="line">
            <a:avLst/>
          </a:prstGeom>
          <a:noFill/>
          <a:ln w="12700">
            <a:solidFill>
              <a:srgbClr val="D0D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0552" y="222199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CIA取得 + 継続学習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0552" y="278892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90D9"/>
                </a:solidFill>
              </a:rPr>
              <a:t>現在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30552" y="299008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40"/>
                </a:solidFill>
              </a:rPr>
              <a:t>USCPA済・CIA着手準備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30552" y="353872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90D9"/>
                </a:solidFill>
              </a:rPr>
              <a:t>目標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30552" y="37490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40"/>
                </a:solidFill>
              </a:rPr>
              <a:t>CIA取得 → 次の専門性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58184" y="960120"/>
            <a:ext cx="157276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58184" y="960120"/>
            <a:ext cx="1572768" cy="201168"/>
          </a:xfrm>
          <a:prstGeom prst="rect">
            <a:avLst/>
          </a:prstGeom>
          <a:solidFill>
            <a:srgbClr val="3DAA7D"/>
          </a:solidFill>
          <a:ln w="12700">
            <a:solidFill>
              <a:srgbClr val="3DAA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58184" y="121615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💪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758184" y="1737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AA7D"/>
                </a:solidFill>
              </a:rPr>
              <a:t>健康資本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41064" y="2148840"/>
            <a:ext cx="1207008" cy="0"/>
          </a:xfrm>
          <a:prstGeom prst="line">
            <a:avLst/>
          </a:prstGeom>
          <a:noFill/>
          <a:ln w="12700">
            <a:solidFill>
              <a:srgbClr val="D0D9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9624" y="222199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ジム週3 + 睡眠改善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49624" y="278892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AA7D"/>
                </a:solidFill>
              </a:rPr>
              <a:t>現在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49624" y="299008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40"/>
                </a:solidFill>
              </a:rPr>
              <a:t>週1目標中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49624" y="353872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AA7D"/>
                </a:solidFill>
              </a:rPr>
              <a:t>目標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49624" y="37490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40"/>
                </a:solidFill>
              </a:rPr>
              <a:t>大会出場レベルへ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77256" y="960120"/>
            <a:ext cx="157276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77256" y="960120"/>
            <a:ext cx="1572768" cy="201168"/>
          </a:xfrm>
          <a:prstGeom prst="rect">
            <a:avLst/>
          </a:prstGeom>
          <a:solidFill>
            <a:srgbClr val="E87B3D"/>
          </a:solidFill>
          <a:ln w="12700">
            <a:solidFill>
              <a:srgbClr val="E87B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77256" y="121615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477256" y="1737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B3D"/>
                </a:solidFill>
              </a:rPr>
              <a:t>財務資本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0136" y="2148840"/>
            <a:ext cx="1207008" cy="0"/>
          </a:xfrm>
          <a:prstGeom prst="line">
            <a:avLst/>
          </a:prstGeom>
          <a:noFill/>
          <a:ln w="12700">
            <a:solidFill>
              <a:srgbClr val="D0D9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68696" y="222199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投資継続 + 独立資金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68696" y="278892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7B3D"/>
                </a:solidFill>
              </a:rPr>
              <a:t>現在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68696" y="299008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40"/>
                </a:solidFill>
              </a:rPr>
              <a:t>積立継続中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68696" y="353872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7B3D"/>
                </a:solidFill>
              </a:rPr>
              <a:t>目標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568696" y="37490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40"/>
                </a:solidFill>
              </a:rPr>
              <a:t>独立可能な財務体力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196328" y="960120"/>
            <a:ext cx="157276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196328" y="960120"/>
            <a:ext cx="1572768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96328" y="121615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7196328" y="1737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社会資本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379208" y="2148840"/>
            <a:ext cx="1207008" cy="0"/>
          </a:xfrm>
          <a:prstGeom prst="line">
            <a:avLst/>
          </a:prstGeom>
          <a:noFill/>
          <a:ln w="12700">
            <a:solidFill>
              <a:srgbClr val="D0D9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87768" y="222199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信頼ネットワーク形成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87768" y="278892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59B6"/>
                </a:solidFill>
              </a:rPr>
              <a:t>現在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287768" y="299008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40"/>
                </a:solidFill>
              </a:rPr>
              <a:t>業界内関係構築中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287768" y="353872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59B6"/>
                </a:solidFill>
              </a:rPr>
              <a:t>目標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287768" y="37490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640"/>
                </a:solidFill>
              </a:rPr>
              <a:t>強固な専門家ネット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640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ブランドポジショニング（仮説）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SLIDE 05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389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743200"/>
            <a:ext cx="4023360" cy="0"/>
          </a:xfrm>
          <a:prstGeom prst="line">
            <a:avLst/>
          </a:prstGeom>
          <a:noFill/>
          <a:ln w="15240">
            <a:solidFill>
              <a:srgbClr val="D0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143000"/>
            <a:ext cx="0" cy="3200400"/>
          </a:xfrm>
          <a:prstGeom prst="line">
            <a:avLst/>
          </a:prstGeom>
          <a:noFill/>
          <a:ln w="15240">
            <a:solidFill>
              <a:srgbClr val="D0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専門性：低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6616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専門性：高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20240" y="4187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発信力：低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20240" y="10607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発信力：高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78608" y="1527048"/>
            <a:ext cx="329184" cy="329184"/>
          </a:xfrm>
          <a:prstGeom prst="ellipse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BB5"/>
                </a:solidFill>
              </a:rPr>
              <a:t>一般会計士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75888" y="1984248"/>
            <a:ext cx="329184" cy="329184"/>
          </a:xfrm>
          <a:prstGeom prst="ellipse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331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BB5"/>
                </a:solidFill>
              </a:rPr>
              <a:t>インフル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A9BB5"/>
                </a:solidFill>
              </a:rPr>
              <a:t>会計系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035808" y="2944368"/>
            <a:ext cx="329184" cy="329184"/>
          </a:xfrm>
          <a:prstGeom prst="ellipse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3291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BB5"/>
                </a:solidFill>
              </a:rPr>
              <a:t>若手FP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913632" y="1627632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13632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640"/>
                </a:solidFill>
              </a:rPr>
              <a:t>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1444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</a:rPr>
              <a:t>← ここを目指す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029200" y="1005840"/>
            <a:ext cx="3840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1005840"/>
            <a:ext cx="64008" cy="10241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01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69280" y="1078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640"/>
                </a:solidFill>
              </a:rPr>
              <a:t>年齢 × 資格の希少性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14447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24歳でUSCPA合格は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業界内で目立つ存在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0" y="2176272"/>
            <a:ext cx="3840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0" y="2176272"/>
            <a:ext cx="64008" cy="10241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2494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02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69280" y="22494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640"/>
                </a:solidFill>
              </a:rPr>
              <a:t>実践×理論の両立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261518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監査実務 + フリーランス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経験による現実感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0" y="3346704"/>
            <a:ext cx="3840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0" y="3346704"/>
            <a:ext cx="64008" cy="10241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4198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03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669280" y="34198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640"/>
                </a:solidFill>
              </a:rPr>
              <a:t>ライフ設計の実践者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37856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マンション購入・投資・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健康管理を実際に行動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A2640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4E0"/>
                </a:solidFill>
              </a:rPr>
              <a:t>※ このポジショニングは仮説。発信実績・市場反応を見ながら継続的に修正する。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640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キャリア × 資格ロードマップ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SLIDE 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8046720" cy="0"/>
          </a:xfrm>
          <a:prstGeom prst="line">
            <a:avLst/>
          </a:prstGeom>
          <a:noFill/>
          <a:ln w="25400">
            <a:solidFill>
              <a:srgbClr val="D0D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265176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現在〜1年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2026〜27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36192" y="2212848"/>
            <a:ext cx="420624" cy="420624"/>
          </a:xfrm>
          <a:prstGeom prst="ellipse">
            <a:avLst/>
          </a:prstGeom>
          <a:solidFill>
            <a:srgbClr val="C9A8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「土台を作る」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3127248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0723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40"/>
                </a:solidFill>
              </a:rPr>
              <a:t>期末監査で実績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45643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4015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40"/>
                </a:solidFill>
              </a:rPr>
              <a:t>CIA学習着手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785616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730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40"/>
                </a:solidFill>
              </a:rPr>
              <a:t>ジム週1→週2定着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411480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0599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40"/>
                </a:solidFill>
              </a:rPr>
              <a:t>ブランド準備期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960120"/>
            <a:ext cx="2651760" cy="6217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9601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1〜3年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2027〜29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70832" y="2212848"/>
            <a:ext cx="420624" cy="420624"/>
          </a:xfrm>
          <a:prstGeom prst="ellipse">
            <a:avLst/>
          </a:prstGeom>
          <a:solidFill>
            <a:srgbClr val="4A90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「資産を積む」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01568" y="3127248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30723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40"/>
                </a:solidFill>
              </a:rPr>
              <a:t>CIA取得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01568" y="3456432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34015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40"/>
                </a:solidFill>
              </a:rPr>
              <a:t>社内評価向上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01568" y="3785616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3730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40"/>
                </a:solidFill>
              </a:rPr>
              <a:t>発信活動開始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01568" y="4114800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84448" y="40599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40"/>
                </a:solidFill>
              </a:rPr>
              <a:t>独立資金積立開始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960120"/>
            <a:ext cx="2651760" cy="621792"/>
          </a:xfrm>
          <a:prstGeom prst="rect">
            <a:avLst/>
          </a:prstGeom>
          <a:solidFill>
            <a:srgbClr val="3DAA7D"/>
          </a:solidFill>
          <a:ln w="12700">
            <a:solidFill>
              <a:srgbClr val="3DAA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9601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3〜5年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2029〜31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05472" y="2212848"/>
            <a:ext cx="420624" cy="420624"/>
          </a:xfrm>
          <a:prstGeom prst="ellipse">
            <a:avLst/>
          </a:prstGeom>
          <a:solidFill>
            <a:srgbClr val="3DAA7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AA7D"/>
                </a:solidFill>
              </a:rPr>
              <a:t>「選択肢を行使」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30175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36208" y="3127248"/>
            <a:ext cx="109728" cy="109728"/>
          </a:xfrm>
          <a:prstGeom prst="ellipse">
            <a:avLst/>
          </a:prstGeom>
          <a:solidFill>
            <a:srgbClr val="3DAA7D"/>
          </a:solidFill>
          <a:ln w="12700">
            <a:solidFill>
              <a:srgbClr val="3DAA7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088" y="30723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40"/>
                </a:solidFill>
              </a:rPr>
              <a:t>独立検討・判断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36208" y="3456432"/>
            <a:ext cx="109728" cy="109728"/>
          </a:xfrm>
          <a:prstGeom prst="ellipse">
            <a:avLst/>
          </a:prstGeom>
          <a:solidFill>
            <a:srgbClr val="3DAA7D"/>
          </a:solidFill>
          <a:ln w="12700">
            <a:solidFill>
              <a:srgbClr val="3DAA7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34015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40"/>
                </a:solidFill>
              </a:rPr>
              <a:t>CISA等の取得検討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36208" y="3785616"/>
            <a:ext cx="109728" cy="109728"/>
          </a:xfrm>
          <a:prstGeom prst="ellipse">
            <a:avLst/>
          </a:prstGeom>
          <a:solidFill>
            <a:srgbClr val="3DAA7D"/>
          </a:solidFill>
          <a:ln w="12700">
            <a:solidFill>
              <a:srgbClr val="3DAA7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3730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40"/>
                </a:solidFill>
              </a:rPr>
              <a:t>ブランド確立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36208" y="4114800"/>
            <a:ext cx="109728" cy="109728"/>
          </a:xfrm>
          <a:prstGeom prst="ellipse">
            <a:avLst/>
          </a:prstGeom>
          <a:solidFill>
            <a:srgbClr val="3DAA7D"/>
          </a:solidFill>
          <a:ln w="12700">
            <a:solidFill>
              <a:srgbClr val="3DAA7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9088" y="40599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40"/>
                </a:solidFill>
              </a:rPr>
              <a:t>財務的自由へ前進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A2640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2803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</a:rPr>
              <a:t>方針：現職最優先 × 独立はオプション。急がず、疲弊せず、着実に積み上げる。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640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参考にすべきロールモデル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SLIDE 07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64008" cy="1783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</a:rPr>
              <a:t>長谷部 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99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Makoto Hasebe  |  元サッカー選手・著作家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65506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40"/>
                </a:solidFill>
              </a:rPr>
              <a:t>「心を整える」の著者。プロとしての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640"/>
                </a:solidFill>
              </a:rPr>
              <a:t>自己規律・メンタル管理の模範。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640"/>
                </a:solidFill>
              </a:rPr>
              <a:t>身体×精神×プロ意識の高次元な両立を体現。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368296"/>
            <a:ext cx="3566160" cy="256032"/>
          </a:xfrm>
          <a:prstGeom prst="rect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682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</a:rPr>
              <a:t>▶ 規律・習慣・自己管理の体現者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60120"/>
            <a:ext cx="64008" cy="1783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</a:rPr>
              <a:t>Morgan Housel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399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Financial Writer  |  Collaborative Fund パートナー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92040" y="165506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40"/>
                </a:solidFill>
              </a:rPr>
              <a:t>「The Psychology of Money」著者。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640"/>
                </a:solidFill>
              </a:rPr>
              <a:t>誠実で知性的な発信スタイル。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640"/>
                </a:solidFill>
              </a:rPr>
              <a:t>煽らず、事実と洞察で信頼を積み上げる。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2368296"/>
            <a:ext cx="3566160" cy="256032"/>
          </a:xfrm>
          <a:prstGeom prst="rect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3682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</a:rPr>
              <a:t>▶ 専門性 × 誠実発信 のモデル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953512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53512"/>
            <a:ext cx="64008" cy="1783080"/>
          </a:xfrm>
          <a:prstGeom prst="rect">
            <a:avLst/>
          </a:prstGeom>
          <a:solidFill>
            <a:srgbClr val="3DAA7D"/>
          </a:solidFill>
          <a:ln w="12700">
            <a:solidFill>
              <a:srgbClr val="3DAA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44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AA7D"/>
                </a:solidFill>
              </a:rPr>
              <a:t>Naval Ravikant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3924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Investor / Philosopher  |  AngelList 創業者・投資家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64845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40"/>
                </a:solidFill>
              </a:rPr>
              <a:t>「Wealth without a salary」の思想家。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640"/>
                </a:solidFill>
              </a:rPr>
              <a:t>長期視点・知識の複利・独立精神。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640"/>
                </a:solidFill>
              </a:rPr>
              <a:t>少量・高質な発信で圧倒的な信頼を得た。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4361688"/>
            <a:ext cx="3566160" cy="256032"/>
          </a:xfrm>
          <a:prstGeom prst="rect">
            <a:avLst/>
          </a:prstGeom>
          <a:solidFill>
            <a:srgbClr val="3DAA7D">
              <a:alpha val="15000"/>
            </a:srgbClr>
          </a:solidFill>
          <a:ln w="12700">
            <a:solidFill>
              <a:srgbClr val="3DAA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3616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AA7D"/>
                </a:solidFill>
              </a:rPr>
              <a:t>▶ 独立志向 × 知的ブランドのモデル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953512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953512"/>
            <a:ext cx="64008" cy="17830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044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</a:rPr>
              <a:t>前田 裕二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92040" y="33924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Yuji Maeda  |  SHOWROOM CEO・著作家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92040" y="364845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40"/>
                </a:solidFill>
              </a:rPr>
              <a:t>「メモの魔力」著者。若くして独立・起業。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640"/>
                </a:solidFill>
              </a:rPr>
              <a:t>自己ブランドの構築を意識的に行った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640"/>
                </a:solidFill>
              </a:rPr>
              <a:t>日本の若手経営者の代表例。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4361688"/>
            <a:ext cx="3566160" cy="256032"/>
          </a:xfrm>
          <a:prstGeom prst="rect">
            <a:avLst/>
          </a:prstGeom>
          <a:solidFill>
            <a:srgbClr val="9B59B6">
              <a:alpha val="1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3616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</a:rPr>
              <a:t>▶ 国内若手ブランド構築のモデル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A2640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2803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</a:rPr>
              <a:t>目標：この4人の「交差点」に自分を置く — 誠実 × 規律 × 知性 × 独立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FASHION &amp; APPEARANCE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ファッション・外見戦略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0"/>
                </a:solidFill>
              </a:rPr>
              <a:t>「清潔感 × 品格 × 適度な個性」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77640" cy="1508760"/>
          </a:xfrm>
          <a:prstGeom prst="rect">
            <a:avLst/>
          </a:prstGeom>
          <a:solidFill>
            <a:srgbClr val="243552"/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6400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👔  スーツ・仕事着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85623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ネイビー/チャコールグレーを基本に。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シャツは白・薄青が鉄板。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素材と仕立てにこだわる（安物は避ける）。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977640" cy="1508760"/>
          </a:xfrm>
          <a:prstGeom prst="rect">
            <a:avLst/>
          </a:prstGeom>
          <a:solidFill>
            <a:srgbClr val="243552"/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17320"/>
            <a:ext cx="6400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👕  カジュアル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85623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シンプル・上質・清潔感を最優先。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ロゴ過多・派手色は避け、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フィット感のあるアイテムを選ぶ。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3977640" cy="1508760"/>
          </a:xfrm>
          <a:prstGeom prst="rect">
            <a:avLst/>
          </a:prstGeom>
          <a:solidFill>
            <a:srgbClr val="243552"/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08960"/>
            <a:ext cx="6400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💪  身体・体型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5478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服の土台は体型。ジム継続が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最も効果的な「ファッション投資」。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鍛えた体はどんな服も映える。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3977640" cy="1508760"/>
          </a:xfrm>
          <a:prstGeom prst="rect">
            <a:avLst/>
          </a:prstGeom>
          <a:solidFill>
            <a:srgbClr val="243552"/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108960"/>
            <a:ext cx="6400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✨  グルーミング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35478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肌ケア・ヘアケアを習慣に。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清潔感は第一印象の8割。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歯列矯正の完了も中長期の投資。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BB5"/>
                </a:solidFill>
              </a:rPr>
              <a:t>詳細ガイドは別冊PDF「振る舞い・生活スタイルガイド」を参照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640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今すぐ始める 3つのアクション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SLIDE 09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87552"/>
            <a:ext cx="64008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6070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34440" y="10789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40"/>
                </a:solidFill>
              </a:rPr>
              <a:t>毎朝3分：ダッシュボードを開く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69480" y="1078992"/>
            <a:ext cx="128016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10789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今日から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14630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00_DASHBOARD.md を開き、今日の3優先事項を記入する。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これだけで「意図を持った1日」が始まる。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省エネモードの日は1つだけでOK。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49424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49424"/>
            <a:ext cx="64008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2257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90D9"/>
                </a:solidFill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34440" y="234086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40"/>
                </a:solidFill>
              </a:rPr>
              <a:t>今週1回：ジムに行く（着替えるだけでOK）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69480" y="2340864"/>
            <a:ext cx="1280160" cy="2926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2340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今週中に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272491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ジムバッグを玄関に出す。着替えたら行く。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30分でも、有酸素10分だけでもOK。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「行った」実績がフェーズ0の起点になる。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11296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11296"/>
            <a:ext cx="64008" cy="1097280"/>
          </a:xfrm>
          <a:prstGeom prst="rect">
            <a:avLst/>
          </a:prstGeom>
          <a:solidFill>
            <a:srgbClr val="3DAA7D"/>
          </a:solidFill>
          <a:ln w="12700">
            <a:solidFill>
              <a:srgbClr val="3DAA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8444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AA7D"/>
                </a:solidFill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34440" y="360273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40"/>
                </a:solidFill>
              </a:rPr>
              <a:t>期末監査後：CIA受験情報を調べる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69480" y="3602736"/>
            <a:ext cx="1280160" cy="292608"/>
          </a:xfrm>
          <a:prstGeom prst="rect">
            <a:avLst/>
          </a:prstGeom>
          <a:solidFill>
            <a:srgbClr val="3DAA7D"/>
          </a:solidFill>
          <a:ln w="12700">
            <a:solidFill>
              <a:srgbClr val="3DAA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3602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監査後（4〜5月）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34440" y="398678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監査が落ち着いたら、CIA受験要件・費用・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学習時間の目安をResearch Agentに調べさせる。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「知る」だけでいい。着手は来月以降でもOK。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A2640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2803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</a:rPr>
              <a:t>最上位KPI：短期成果ではなく「疲弊せず持続可能に5資本を積み上げること」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2926080"/>
            <a:ext cx="4114800" cy="4114800"/>
          </a:xfrm>
          <a:prstGeom prst="ellipse">
            <a:avLst/>
          </a:prstGeom>
          <a:solidFill>
            <a:srgbClr val="243552"/>
          </a:solidFill>
          <a:ln w="12700">
            <a:solidFill>
              <a:srgbClr val="2435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</a:rPr>
              <a:t>今日が、最初の一歩。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完璧なv2より、動くv1を。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7889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4E0"/>
                </a:solidFill>
              </a:rPr>
              <a:t>疲弊しない持続可能な前進が、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C4E0"/>
                </a:solidFill>
              </a:rPr>
              <a:t>5年後の自分をつくる。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617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Personal Branding OS v1.0  |  2026.03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Branding Strategy 2026</dc:title>
  <dc:subject>PptxGenJS Presentation</dc:subject>
  <dc:creator>Personal Branding OS</dc:creator>
  <cp:lastModifiedBy>Personal Branding OS</cp:lastModifiedBy>
  <cp:revision>1</cp:revision>
  <dcterms:created xsi:type="dcterms:W3CDTF">2026-03-30T05:12:37Z</dcterms:created>
  <dcterms:modified xsi:type="dcterms:W3CDTF">2026-03-30T05:12:37Z</dcterms:modified>
</cp:coreProperties>
</file>